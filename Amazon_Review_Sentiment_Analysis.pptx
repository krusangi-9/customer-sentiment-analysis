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Amazon Product Review</a:t>
            </a:r>
          </a:p>
          <a:p>
            <a:r>
              <a:t>Sentiment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C7293"/>
                </a:solidFill>
                <a:latin typeface="Calibri"/>
              </a:defRPr>
            </a:pPr>
            <a:r>
              <a:t>Machine Learning &amp; Natural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Objective: Predict customer sentiment from product reviews using machine learning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Implementation: Multiple classification algorithms compared for performance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Key Features: Natural language processing, TF-IDF vectorization, sentiment classification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Dataset: 40,249 Amazon product reviews with ratings and text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Outcome: Achieved 91% accuracy in predicting positive vs. negative sentiment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Calibri"/>
              </a:defRPr>
            </a:pPr>
            <a:r>
              <a:t>Dataset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5A82"/>
                </a:solidFill>
              </a:defRPr>
            </a:pPr>
            <a:r>
              <a:t>40,249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Total Reviews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463040"/>
            <a:ext cx="18288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5A82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463040"/>
            <a:ext cx="18288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6459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5A82"/>
                </a:solidFill>
              </a:defRPr>
            </a:pPr>
            <a:r>
              <a:t>78.8%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94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Positive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463040"/>
            <a:ext cx="18288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6459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5A82"/>
                </a:solidFill>
              </a:defRPr>
            </a:pPr>
            <a:r>
              <a:t>21.2%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94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Negative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Key Features: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Text: Full review content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Summary: Brief review summary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Score: Rating (1-5 stars)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Helpfulness metrics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Timestamp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Calibri"/>
              </a:defRPr>
            </a:pPr>
            <a:r>
              <a:t>Data Preprocessing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1. Data Cleaning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 • Removed null values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 • Selected relevant features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2. Sentiment Labeling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 • Scores 1-3 → Negative (0)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 • Scores 4-5 → Positive (1)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3. Text Cleaning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 • Lowercase conversion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 • Remove URLs &amp; HTML tags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 • Remove punctuation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 • Remove stopwords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 • Tokenization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4. Feature Engineering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 • TF-IDF Vectorization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 • Max 5,000 features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 • Convert text to numerical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Result: Clean, structured data ready for ML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Calibri"/>
              </a:defRPr>
            </a:pPr>
            <a:r>
              <a:t>Class Distribution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6400800" cy="27455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3891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2C3E50"/>
                </a:solidFill>
              </a:defRPr>
            </a:pPr>
            <a:r>
              <a:t>Class Imbalance: Dataset skewed toward positive reviews (78.8% vs 21.2%) requires careful model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Calibri"/>
              </a:defRPr>
            </a:pPr>
            <a:r>
              <a:t>Machine Learning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772400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3619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Linear classification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36192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C7293"/>
                </a:solidFill>
              </a:defRPr>
            </a:pPr>
            <a:r>
              <a:t>Interpretable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84832"/>
            <a:ext cx="7772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57984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Naive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57984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Probabilistic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57984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C7293"/>
                </a:solidFill>
              </a:defRPr>
            </a:pPr>
            <a:r>
              <a:t>Text-specific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06624"/>
            <a:ext cx="7772400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79776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Linear SVC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79776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Support Vector Machine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779776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C7293"/>
                </a:solidFill>
              </a:defRPr>
            </a:pPr>
            <a:r>
              <a:t>High-dimensional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28416"/>
            <a:ext cx="7772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01568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Decision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015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Recursive splitting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401568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C7293"/>
                </a:solidFill>
              </a:defRPr>
            </a:pPr>
            <a:r>
              <a:t>Non-linear patterns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50208"/>
            <a:ext cx="7772400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Ensemble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023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C7293"/>
                </a:solidFill>
              </a:defRPr>
            </a:pPr>
            <a:r>
              <a:t>Robust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Calibri"/>
              </a:defRPr>
            </a:pPr>
            <a:r>
              <a:t>Model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6858000" cy="29283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4480560"/>
            <a:ext cx="457200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480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🏆 Best Model: Logistic Regression - 91.01%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5A82"/>
                </a:solidFill>
                <a:latin typeface="Calibri"/>
              </a:defRPr>
            </a:pPr>
            <a:r>
              <a:t>Logistic Regression - 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1188720"/>
          </a:xfrm>
          <a:prstGeom prst="rect">
            <a:avLst/>
          </a:prstGeom>
          <a:solidFill>
            <a:srgbClr val="ECF0F1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</a:defRPr>
            </a:pPr>
            <a:r>
              <a:t>76%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Precision (Negative)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645920"/>
            <a:ext cx="1828800" cy="1188720"/>
          </a:xfrm>
          <a:prstGeom prst="rect">
            <a:avLst/>
          </a:prstGeom>
          <a:solidFill>
            <a:srgbClr val="ECF0F1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</a:defRPr>
            </a:pPr>
            <a:r>
              <a:t>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Recall (Negative)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645920"/>
            <a:ext cx="1828800" cy="1188720"/>
          </a:xfrm>
          <a:prstGeom prst="rect">
            <a:avLst/>
          </a:prstGeom>
          <a:solidFill>
            <a:srgbClr val="ECF0F1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828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Precision (Positive)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645920"/>
            <a:ext cx="1828800" cy="1188720"/>
          </a:xfrm>
          <a:prstGeom prst="rect">
            <a:avLst/>
          </a:prstGeom>
          <a:solidFill>
            <a:srgbClr val="ECF0F1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828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Recall (Positive)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Overall Performance: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Weighted Average Precision: 91%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Weighted Average Recall: 91%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F1-Score: 91%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Strong performance across both sentiment classes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Calibri"/>
              </a:defRPr>
            </a:pPr>
            <a:r>
              <a:t>Most Influential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Predicting NEGATIVE 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worst (3.77)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terrible (3.45)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disappointed (3.40)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horrible (3.10)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awful (2.97)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disgusting (2.77)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Predicting POSITIVE Sentiment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8288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great (-4.00)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good (-3.44)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nice (-3.20)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delicious (-3.05)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love (-2.88)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perfect (-2.79)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2C3E50"/>
                </a:solidFill>
              </a:defRPr>
            </a:pPr>
            <a:r>
              <a:t>Weight values indicate feature importance in model predictions. Higher absolute values = stronger influence on classification.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Calibri"/>
              </a:defRPr>
            </a:pPr>
            <a:r>
              <a:t>Key Findings &amp;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Model Performance: Logistic Regression outperformed all models at 91.01% accuracy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Linear models (LR &amp; Linear SVC) significantly better than tree-based models for text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TF-IDF vectorization proved highly effective for sentiment classification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Strong sentiment indicators identified: 'worst', 'terrible', 'great', 'excellent'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Class imbalance handled well - maintained 76% accuracy on minority class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Random Forest struggled with high-dimensional sparse text features (86.41%)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  <a:latin typeface="Calibri"/>
              </a:defRPr>
            </a:pPr>
            <a:r>
              <a:t>Conclusions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Achievements: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91% prediction accuracy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Identified key sentiment drivers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Robust preprocessing pipeline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Model comparison framework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Business Applications: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Automated feedback analysis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Real-time sentiment monitoring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Product quality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Future Improvements: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Address class imbalance with SMOTE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Experiment with deep learning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(LSTM, BERT transformers)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Multi-class sentiment analysis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  (1-5 star prediction)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Deploy as REST API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Real-time prediction system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Integration with review platforms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C7293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  <a:latin typeface="Calibri"/>
              </a:defRPr>
            </a:pPr>
            <a:r>
              <a:t>Amazon Product Review Sentiment Analysis</a:t>
            </a:r>
          </a:p>
          <a:p>
            <a:r>
              <a:t>Machine Learning &amp; Natural Language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